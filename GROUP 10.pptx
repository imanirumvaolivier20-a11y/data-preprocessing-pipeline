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1" r:id="rId6"/>
    <p:sldId id="263" r:id="rId7"/>
    <p:sldId id="265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1C48B-7064-44AD-A206-359AF0CE222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71D9B-4055-4857-A515-6CAF5A092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3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165F-565E-38C6-393D-C75ECCAB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87117-6D9F-39D5-E97C-6369D9C18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934D5-36F4-20BB-6DE5-0E03B2401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A85C8-FACA-B670-65ED-52D93403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0F4C8-1CDB-F269-FF66-4C1AEC97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8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426D-B6F2-9BB4-E33C-2CBFF3CB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449BD-9600-E04B-E7AB-68239DCF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B05A-3ACE-8DA4-DADA-81EFE247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0905C-D5DE-9CAD-8DC1-0BDB06FF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E5A32-51B5-1650-7A51-5965733A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D0AF-A79F-3813-F35C-159E8860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91327-9AC4-FCCB-3FCB-B38240F80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53545-E4DB-96E9-FD2B-2F901BB9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B8604-256A-BCCF-92BE-ED6B2DF6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AC879-78C2-F938-7615-D24EAC79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76D6-1298-7283-AA12-CE59A7F5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BE85-9E73-7E29-E029-EC1631F3F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624AE-C6E6-A9F7-D0F1-A3A0AED2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0AA9F-B324-BCED-514C-19FF23E6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30F8B-7AB0-0385-0D2C-07C207B7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6D7A4-BB87-0C40-2DFE-13C836DA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7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9DB7-A080-FD9A-A0FF-F790199A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87052-0097-4E9A-24A5-D96A12E90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99F50-3F43-0900-7A86-4DBEBB614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794F7-9D18-BF24-399A-2D621B76E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8635E-4F58-3FB3-0D51-683CF2D77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454AD-3810-A639-2F95-7F4BEECA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AB29A-5B71-5104-A896-3E7B21BF1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AB6AA-7DF4-665D-E105-7ED5AE2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1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ACCF-F9CA-9D2B-3057-D3B3CA05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197C4-55F4-2D69-9C22-F86DA2E3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B467C-0A5A-999A-A91A-F65469DD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AAAEA-C088-C710-B8AE-B7EAFC50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5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DE738-6526-F059-8CF9-B58094FA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65B2B-A32C-69F4-DA4D-DE3B1FE8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AA8E2-ABB0-298A-0E7A-34C78219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5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C4C0-2FD3-5314-30B5-C67142C2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02714-D295-4AAF-BCB5-C80BC68C9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E2D14-0D32-3666-D10E-4E9E4D78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A61AF-A9C4-EF69-D933-46011813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B6450-91FF-D436-924C-3FF8F005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FD60B-1D0F-6D5F-B02B-4452583E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3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8D8EA-27A9-187B-8EC1-0A78EB7F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87535-87F4-7A62-65F5-A7DB3956A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0ACF2-108D-1604-5665-C1E13E0AA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286F6-978C-1A89-E389-F2094B4B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0D061-0BC1-1194-6EF8-DA0A1DC0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06ABD-323B-8751-0048-06F4B769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8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FA5E-6AF2-855D-A36E-08F893DB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6700B-DD71-EA9A-2110-88A72911D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628DF-F6D3-04D9-0F8C-470D5A4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C59F4-3FA3-0619-62F6-B2674AC6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2BBCC-1B18-3FB4-802A-FD6479D1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5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2F848-D824-2722-E428-3A2D5025F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270D7-9482-183B-119E-76C09B436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F6A1F-A026-3EF3-C629-27735946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2E700-EBC9-183F-AFA9-7C463F66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4B7D7-A26D-54FC-093D-1D8262A3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1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68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39060-6398-86F4-A2A9-E01EC387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12053-E44E-7969-D92E-7DC98C87E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E7369-255F-775C-B240-0AF5C179E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80CB8-B4EF-4EBA-A4CD-D63202C9C1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37B5-7F2E-3AEC-4FF9-90EC4DB14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DB38-B5EE-27C2-FB81-FC2FAAD05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F3F10-5548-4E17-A499-88B0DB576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8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F36B-E052-A2B6-9D69-CFB60186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569" y="478301"/>
            <a:ext cx="9144000" cy="977778"/>
          </a:xfrm>
        </p:spPr>
        <p:txBody>
          <a:bodyPr/>
          <a:lstStyle/>
          <a:p>
            <a:r>
              <a:rPr lang="en-US" dirty="0"/>
              <a:t>GROUP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C2331-671F-7DB1-658D-6B0FA9957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646" y="165014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ICT Department</a:t>
            </a:r>
          </a:p>
          <a:p>
            <a:r>
              <a:rPr lang="en-US" dirty="0"/>
              <a:t>Level 8 year 4 IT</a:t>
            </a:r>
          </a:p>
          <a:p>
            <a:r>
              <a:rPr lang="en-US" dirty="0"/>
              <a:t>Academic year 2025-2026</a:t>
            </a:r>
          </a:p>
          <a:p>
            <a:r>
              <a:rPr lang="en-US" dirty="0"/>
              <a:t>Dada Mining and Data Warehousing -FA2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D2EA36A-9017-4307-FDC2-7921B0E06859}"/>
              </a:ext>
            </a:extLst>
          </p:cNvPr>
          <p:cNvSpPr/>
          <p:nvPr/>
        </p:nvSpPr>
        <p:spPr>
          <a:xfrm>
            <a:off x="1699846" y="601393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Rwanda Polytechnic | </a:t>
            </a:r>
            <a:r>
              <a:rPr lang="en-US" sz="1600" b="1" dirty="0"/>
              <a:t>Huye College</a:t>
            </a:r>
            <a:endParaRPr lang="en-US" sz="16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5E76D5-547C-518A-07AA-67CB29D98AE4}"/>
              </a:ext>
            </a:extLst>
          </p:cNvPr>
          <p:cNvSpPr txBox="1">
            <a:spLocks/>
          </p:cNvSpPr>
          <p:nvPr/>
        </p:nvSpPr>
        <p:spPr>
          <a:xfrm>
            <a:off x="1330569" y="401820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GROUP MEMBERS</a:t>
            </a:r>
          </a:p>
          <a:p>
            <a:r>
              <a:rPr lang="en-US" sz="2000" dirty="0"/>
              <a:t>IMANIRUMVA Olivier</a:t>
            </a:r>
          </a:p>
          <a:p>
            <a:r>
              <a:rPr lang="en-US" sz="2000" dirty="0"/>
              <a:t>NKIZINGABO Philbert</a:t>
            </a:r>
          </a:p>
          <a:p>
            <a:r>
              <a:rPr lang="en-US" sz="2000" dirty="0"/>
              <a:t>UWIMANA Diane</a:t>
            </a:r>
          </a:p>
        </p:txBody>
      </p:sp>
    </p:spTree>
    <p:extLst>
      <p:ext uri="{BB962C8B-B14F-4D97-AF65-F5344CB8AC3E}">
        <p14:creationId xmlns:p14="http://schemas.microsoft.com/office/powerpoint/2010/main" val="377674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3F85-D4A7-FBE3-D2A0-6871776A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8663-8AED-C94C-4681-02708F469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Multi-Campus Education Data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2636F-DFB2-0AA9-4CF8-79B62B473B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Preprocessing Pipeline</a:t>
            </a:r>
          </a:p>
          <a:p>
            <a:r>
              <a:rPr lang="en-US" dirty="0">
                <a:solidFill>
                  <a:srgbClr val="2C3E50"/>
                </a:solidFill>
              </a:rPr>
              <a:t>Our work was to build a reliable analytics dataset by integrating student, course, and assessment data from multiple campuses (Huye, Kigali, Musanze). Transform raw, messy data into a clean, standardized gold dataset ready for reporting and machine learning applications.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8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D755-E1DE-664F-C835-27128A72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2761"/>
                </a:solidFill>
              </a:rPr>
              <a:t>Key Objectives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03AD-113C-EE1F-539F-67CA2B048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2C3E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</a:rPr>
              <a:t>1. Integrate data from at least 3 campuses with different export formats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</a:rPr>
              <a:t>2. Handle missing values, duplicates, outliers, and inconsistent formats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</a:rPr>
              <a:t>3. Build a preprocessing pipeline converting raw files into clean gold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2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</a:rPr>
              <a:t>Creating data sources-data Requirements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600" y="1158240"/>
            <a:ext cx="10972800" cy="24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584960"/>
            <a:ext cx="3535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767840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0"/>
            <a:ext cx="2194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Students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53440" y="2438400"/>
            <a:ext cx="30480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Student profile data including ID, name, gender, DOB, program, level, intake year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584960"/>
            <a:ext cx="3535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67840"/>
            <a:ext cx="609600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4480" y="1828800"/>
            <a:ext cx="2194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Courses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72000" y="2438400"/>
            <a:ext cx="30480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Course catalog and enrollment data with course codes, titles, credits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46720" y="1584960"/>
            <a:ext cx="3535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1767840"/>
            <a:ext cx="609600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83040" y="1828800"/>
            <a:ext cx="2194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Assessments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290560" y="2438400"/>
            <a:ext cx="30480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Assessment results including marks, grades, credits, attendance rates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09600" y="37795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E2761"/>
                </a:solidFill>
              </a:rPr>
              <a:t>Intentional Data Quality Issues that must to include in data sources</a:t>
            </a:r>
            <a:endParaRPr lang="en-US" sz="2667" dirty="0"/>
          </a:p>
        </p:txBody>
      </p:sp>
      <p:sp>
        <p:nvSpPr>
          <p:cNvPr id="17" name="Shape 12"/>
          <p:cNvSpPr/>
          <p:nvPr/>
        </p:nvSpPr>
        <p:spPr>
          <a:xfrm>
            <a:off x="609600" y="4389120"/>
            <a:ext cx="10972800" cy="1950720"/>
          </a:xfrm>
          <a:prstGeom prst="rect">
            <a:avLst/>
          </a:prstGeom>
          <a:solidFill>
            <a:srgbClr val="FFF8F0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" y="4572000"/>
            <a:ext cx="487680" cy="4876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572000"/>
            <a:ext cx="9875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• Missing values (phone, gender, DOB, marks)</a:t>
            </a:r>
            <a:endParaRPr lang="en-US" sz="1733" dirty="0"/>
          </a:p>
          <a:p>
            <a:r>
              <a:rPr lang="en-US" sz="1733" dirty="0">
                <a:solidFill>
                  <a:srgbClr val="2C3E50"/>
                </a:solidFill>
              </a:rPr>
              <a:t>• Duplicates (student IDs, repeated results)</a:t>
            </a:r>
            <a:endParaRPr lang="en-US" sz="1733" dirty="0"/>
          </a:p>
          <a:p>
            <a:r>
              <a:rPr lang="en-US" sz="1733" dirty="0">
                <a:solidFill>
                  <a:srgbClr val="2C3E50"/>
                </a:solidFill>
              </a:rPr>
              <a:t>• Outliers (marks &gt; 100, negative marks, unrealistic GPA)</a:t>
            </a:r>
            <a:endParaRPr lang="en-US" sz="1733" dirty="0"/>
          </a:p>
          <a:p>
            <a:r>
              <a:rPr lang="en-US" sz="1733" dirty="0">
                <a:solidFill>
                  <a:srgbClr val="2C3E50"/>
                </a:solidFill>
              </a:rPr>
              <a:t>• Inconsistent formats (dates, capitalization, course codes)</a:t>
            </a:r>
            <a:endParaRPr lang="en-US" sz="1733" dirty="0"/>
          </a:p>
          <a:p>
            <a:r>
              <a:rPr lang="en-US" sz="1733" dirty="0">
                <a:solidFill>
                  <a:srgbClr val="2C3E50"/>
                </a:solidFill>
              </a:rPr>
              <a:t>• Noisy data (spaces, special characters, typos)</a:t>
            </a:r>
            <a:endParaRPr lang="en-US" sz="17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6EF1-E7DA-85F2-7E86-6D838942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Outputs after creating dirty data sources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EEBD91-391A-D101-9AB6-0ACE4A736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6333"/>
            <a:ext cx="4070390" cy="3094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7F3F08-B674-856A-3843-FA8AA7B4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568" y="2076333"/>
            <a:ext cx="5882679" cy="4512964"/>
          </a:xfrm>
          <a:prstGeom prst="rect">
            <a:avLst/>
          </a:prstGeom>
        </p:spPr>
      </p:pic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E53654CC-78A5-EEC6-FF58-011A777C9291}"/>
              </a:ext>
            </a:extLst>
          </p:cNvPr>
          <p:cNvSpPr/>
          <p:nvPr/>
        </p:nvSpPr>
        <p:spPr>
          <a:xfrm rot="16200000">
            <a:off x="2891948" y="3481331"/>
            <a:ext cx="1014984" cy="439337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79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</a:rPr>
              <a:t>Data Preprocessing Pipeline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600" y="1158240"/>
            <a:ext cx="10972800" cy="24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853439" y="1706880"/>
            <a:ext cx="8079543" cy="792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40" y="1706880"/>
            <a:ext cx="792480" cy="792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53440" y="170688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0" y="1853184"/>
            <a:ext cx="487680" cy="48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99360" y="1804416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Data Collection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2499360" y="2170176"/>
            <a:ext cx="31699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</a:rPr>
              <a:t>Load &amp; Profile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3760" y="2560320"/>
            <a:ext cx="0" cy="5486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53440" y="2682240"/>
            <a:ext cx="8079542" cy="792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3440" y="2682240"/>
            <a:ext cx="792480" cy="792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3440" y="268224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760" y="2828544"/>
            <a:ext cx="487680" cy="487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9360" y="2779776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Data Cleaning</a:t>
            </a:r>
            <a:endParaRPr lang="en-US" sz="2133" dirty="0"/>
          </a:p>
        </p:txBody>
      </p:sp>
      <p:sp>
        <p:nvSpPr>
          <p:cNvPr id="16" name="Text 12"/>
          <p:cNvSpPr/>
          <p:nvPr/>
        </p:nvSpPr>
        <p:spPr>
          <a:xfrm>
            <a:off x="2499360" y="3145536"/>
            <a:ext cx="31699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</a:rPr>
              <a:t>Fix Issues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413760" y="3535680"/>
            <a:ext cx="0" cy="5486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53439" y="3657600"/>
            <a:ext cx="8079535" cy="792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3440" y="3657600"/>
            <a:ext cx="792480" cy="792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853440" y="365760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760" y="3803904"/>
            <a:ext cx="487680" cy="4876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99360" y="3755136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Transformation</a:t>
            </a:r>
            <a:endParaRPr lang="en-US" sz="2133" dirty="0"/>
          </a:p>
        </p:txBody>
      </p:sp>
      <p:sp>
        <p:nvSpPr>
          <p:cNvPr id="23" name="Text 18"/>
          <p:cNvSpPr/>
          <p:nvPr/>
        </p:nvSpPr>
        <p:spPr>
          <a:xfrm>
            <a:off x="2499360" y="4120896"/>
            <a:ext cx="31699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</a:rPr>
              <a:t>Scale &amp; Encode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3413760" y="4511040"/>
            <a:ext cx="0" cy="5486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53439" y="4632960"/>
            <a:ext cx="8079527" cy="792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853440" y="4632960"/>
            <a:ext cx="792480" cy="792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2"/>
          <p:cNvSpPr/>
          <p:nvPr/>
        </p:nvSpPr>
        <p:spPr>
          <a:xfrm>
            <a:off x="853440" y="463296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9760" y="4779264"/>
            <a:ext cx="487680" cy="4876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499360" y="4730496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Integration</a:t>
            </a:r>
            <a:endParaRPr lang="en-US" sz="2133" dirty="0"/>
          </a:p>
        </p:txBody>
      </p:sp>
      <p:sp>
        <p:nvSpPr>
          <p:cNvPr id="30" name="Text 24"/>
          <p:cNvSpPr/>
          <p:nvPr/>
        </p:nvSpPr>
        <p:spPr>
          <a:xfrm>
            <a:off x="2499360" y="5096256"/>
            <a:ext cx="31699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</a:rPr>
              <a:t>Merge Datasets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3413760" y="5486400"/>
            <a:ext cx="0" cy="5486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853439" y="5608320"/>
            <a:ext cx="8079525" cy="792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53440" y="5608320"/>
            <a:ext cx="792480" cy="792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28"/>
          <p:cNvSpPr/>
          <p:nvPr/>
        </p:nvSpPr>
        <p:spPr>
          <a:xfrm>
            <a:off x="853440" y="5608320"/>
            <a:ext cx="792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9760" y="5754624"/>
            <a:ext cx="487680" cy="4876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499360" y="5705856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Reduction</a:t>
            </a:r>
            <a:endParaRPr lang="en-US" sz="2133" dirty="0"/>
          </a:p>
        </p:txBody>
      </p:sp>
      <p:sp>
        <p:nvSpPr>
          <p:cNvPr id="37" name="Text 30"/>
          <p:cNvSpPr/>
          <p:nvPr/>
        </p:nvSpPr>
        <p:spPr>
          <a:xfrm>
            <a:off x="2499360" y="6071616"/>
            <a:ext cx="31699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</a:rPr>
              <a:t>Remove Irrelevant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6705600" y="347472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Phase 6</a:t>
            </a:r>
            <a:endParaRPr lang="en-US" sz="2400" dirty="0"/>
          </a:p>
        </p:txBody>
      </p:sp>
      <p:sp>
        <p:nvSpPr>
          <p:cNvPr id="41" name="Text 33"/>
          <p:cNvSpPr/>
          <p:nvPr/>
        </p:nvSpPr>
        <p:spPr>
          <a:xfrm>
            <a:off x="6705600" y="39014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Feature Engineering</a:t>
            </a:r>
            <a:endParaRPr lang="en-US" sz="2667" dirty="0"/>
          </a:p>
        </p:txBody>
      </p:sp>
      <p:sp>
        <p:nvSpPr>
          <p:cNvPr id="42" name="Text 34"/>
          <p:cNvSpPr/>
          <p:nvPr/>
        </p:nvSpPr>
        <p:spPr>
          <a:xfrm>
            <a:off x="6705600" y="445008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Create 8+ engineered features:</a:t>
            </a:r>
            <a:endParaRPr lang="en-US" sz="1733" dirty="0"/>
          </a:p>
        </p:txBody>
      </p:sp>
      <p:sp>
        <p:nvSpPr>
          <p:cNvPr id="43" name="Text 35"/>
          <p:cNvSpPr/>
          <p:nvPr/>
        </p:nvSpPr>
        <p:spPr>
          <a:xfrm>
            <a:off x="6705600" y="4815840"/>
            <a:ext cx="463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• Date-time features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• Performance aggregations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• Risk flags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23E5-7E88-1E9B-9404-5670C998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data issue and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549F7-28E9-D9E4-3BB1-CB37C0F94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values                                                     After handling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0D161-341F-CAF7-74A2-A1AD38651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56670"/>
            <a:ext cx="5997460" cy="3063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8CCDE-642B-BCB6-F574-ECEC2B8B8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377" y="2530293"/>
            <a:ext cx="4953429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92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E35F-567E-650C-22DD-4E421269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55DD0-EF83-DA9D-EF21-AA2884939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7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9A079-FC06-0562-2BAE-79141774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2761"/>
                </a:solidFill>
              </a:rPr>
              <a:t>Final Output: Gold Dataset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D98404-AD28-AEC9-BCDD-9C2BB444A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872346-41C0-6AED-7F6F-EB93E7951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45" y="1690688"/>
            <a:ext cx="10981372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12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313</Words>
  <Application>Microsoft Office PowerPoint</Application>
  <PresentationFormat>Widescreen</PresentationFormat>
  <Paragraphs>60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GROUP 10</vt:lpstr>
      <vt:lpstr>Multi-Campus Education Data </vt:lpstr>
      <vt:lpstr>Key Objectives</vt:lpstr>
      <vt:lpstr>PowerPoint Presentation</vt:lpstr>
      <vt:lpstr>Outputs after creating dirty data sources</vt:lpstr>
      <vt:lpstr>PowerPoint Presentation</vt:lpstr>
      <vt:lpstr>Example of data issue and handling</vt:lpstr>
      <vt:lpstr>Data integration</vt:lpstr>
      <vt:lpstr>Final Output: Gold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2026-02-12T13:04:48Z</dcterms:created>
  <dcterms:modified xsi:type="dcterms:W3CDTF">2026-02-13T10:34:08Z</dcterms:modified>
</cp:coreProperties>
</file>